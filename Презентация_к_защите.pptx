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5efe4a80c_10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b5efe4a80c_1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5efe4a80c_10_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5efe4a80c_1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5efe4a80c_8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5efe4a80c_8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5efe4a80c_8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b5efe4a80c_8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5efe4a80c_8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b5efe4a80c_8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5efe4a80c_8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5efe4a80c_8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5efe4a80c_8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b5efe4a80c_8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60821fc2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60821fc2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5efe4a80c_10_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Фича инжиниринг !!!!!! не забыть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5efe4a80c_1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5efe4a80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b5efe4a80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d8399a365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d8399a365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a8d285f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a8d285f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c2f0fbd27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c2f0fbd27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c5f879f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c5f879f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60821fc2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g3b60821fc2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efe4a80c_4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b5efe4a80c_4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60821fc25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b60821fc25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60821fc25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b60821fc25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394" y="721630"/>
            <a:ext cx="664874" cy="664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4"/>
          <p:cNvCxnSpPr/>
          <p:nvPr/>
        </p:nvCxnSpPr>
        <p:spPr>
          <a:xfrm>
            <a:off x="4567659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>
            <a:off x="6481936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8384285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>
            <p:ph type="title"/>
          </p:nvPr>
        </p:nvSpPr>
        <p:spPr>
          <a:xfrm>
            <a:off x="770975" y="1803503"/>
            <a:ext cx="5725544" cy="148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b="0" i="0" sz="9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3" type="body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b="0" i="0" sz="9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4" type="body"/>
          </p:nvPr>
        </p:nvSpPr>
        <p:spPr>
          <a:xfrm>
            <a:off x="770975" y="3618685"/>
            <a:ext cx="5718950" cy="489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15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5"/>
          <p:cNvSpPr/>
          <p:nvPr>
            <p:ph idx="2" type="pic"/>
          </p:nvPr>
        </p:nvSpPr>
        <p:spPr>
          <a:xfrm>
            <a:off x="5013490" y="1085842"/>
            <a:ext cx="3243875" cy="324383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439424" y="1085843"/>
            <a:ext cx="3934170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39423" y="1784747"/>
            <a:ext cx="3934171" cy="2544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3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4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5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6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16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3" type="body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7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7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7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3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4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5" type="body"/>
          </p:nvPr>
        </p:nvSpPr>
        <p:spPr>
          <a:xfrm>
            <a:off x="4694919" y="1784747"/>
            <a:ext cx="4037976" cy="258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2400"/>
              <a:buFont typeface="Arial"/>
              <a:buNone/>
              <a:defRPr b="0" i="0" sz="24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6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8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18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8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4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5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8"/>
          <p:cNvSpPr/>
          <p:nvPr>
            <p:ph idx="6" type="chart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9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9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4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9"/>
          <p:cNvSpPr/>
          <p:nvPr>
            <p:ph idx="5" type="chart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6" type="body"/>
          </p:nvPr>
        </p:nvSpPr>
        <p:spPr>
          <a:xfrm>
            <a:off x="439341" y="1085298"/>
            <a:ext cx="3242072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7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0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20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0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4" type="body"/>
          </p:nvPr>
        </p:nvSpPr>
        <p:spPr>
          <a:xfrm>
            <a:off x="431307" y="3077996"/>
            <a:ext cx="2068607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5" type="body"/>
          </p:nvPr>
        </p:nvSpPr>
        <p:spPr>
          <a:xfrm>
            <a:off x="3035255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6" type="body"/>
          </p:nvPr>
        </p:nvSpPr>
        <p:spPr>
          <a:xfrm>
            <a:off x="5639204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7" type="body"/>
          </p:nvPr>
        </p:nvSpPr>
        <p:spPr>
          <a:xfrm>
            <a:off x="431307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8" type="body"/>
          </p:nvPr>
        </p:nvSpPr>
        <p:spPr>
          <a:xfrm>
            <a:off x="3035255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9" type="body"/>
          </p:nvPr>
        </p:nvSpPr>
        <p:spPr>
          <a:xfrm>
            <a:off x="5639204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1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21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p21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21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21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1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4" type="body"/>
          </p:nvPr>
        </p:nvSpPr>
        <p:spPr>
          <a:xfrm>
            <a:off x="439340" y="1085299"/>
            <a:ext cx="8293549" cy="2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5" type="body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22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22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2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4" type="body"/>
          </p:nvPr>
        </p:nvSpPr>
        <p:spPr>
          <a:xfrm>
            <a:off x="439340" y="1085298"/>
            <a:ext cx="5713408" cy="40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5" type="body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6" type="body"/>
          </p:nvPr>
        </p:nvSpPr>
        <p:spPr>
          <a:xfrm>
            <a:off x="6515105" y="1656272"/>
            <a:ext cx="2197999" cy="19280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3107" y="1982857"/>
            <a:ext cx="1177787" cy="117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4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4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4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2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2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2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4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5"/>
          <p:cNvSpPr/>
          <p:nvPr/>
        </p:nvSpPr>
        <p:spPr>
          <a:xfrm>
            <a:off x="4044736" y="1085843"/>
            <a:ext cx="623248" cy="623248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5057194" y="1085843"/>
            <a:ext cx="623248" cy="623248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6069651" y="1085843"/>
            <a:ext cx="623248" cy="623248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7082108" y="1085843"/>
            <a:ext cx="623248" cy="623248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8094566" y="1085843"/>
            <a:ext cx="623248" cy="623248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4044736" y="2031524"/>
            <a:ext cx="623248" cy="623248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5057194" y="2031524"/>
            <a:ext cx="623248" cy="623248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069651" y="2031524"/>
            <a:ext cx="623248" cy="62324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7082108" y="2031524"/>
            <a:ext cx="623248" cy="623248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8094566" y="2031524"/>
            <a:ext cx="623248" cy="623248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4044736" y="2977207"/>
            <a:ext cx="623248" cy="623248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5057194" y="2977207"/>
            <a:ext cx="623248" cy="623248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069651" y="2977207"/>
            <a:ext cx="623248" cy="623248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7082108" y="2977207"/>
            <a:ext cx="623248" cy="623248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8094566" y="2977207"/>
            <a:ext cx="623248" cy="623248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4044736" y="3937327"/>
            <a:ext cx="623248" cy="623248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057194" y="3937327"/>
            <a:ext cx="623248" cy="623248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6069651" y="3937327"/>
            <a:ext cx="623248" cy="623248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7082108" y="3937327"/>
            <a:ext cx="623248" cy="623248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8094566" y="3937327"/>
            <a:ext cx="623248" cy="623248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ZofQpaTkKp2KF4etHxPgE_NkIkB-gkQU/view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770975" y="1421900"/>
            <a:ext cx="7657500" cy="18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ru" sz="3780">
                <a:solidFill>
                  <a:srgbClr val="000000"/>
                </a:solidFill>
              </a:rPr>
              <a:t>Детектирование аномалий в данных</a:t>
            </a:r>
            <a:endParaRPr b="1"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ru"/>
              <a:t>Факультет компьютерных наук</a:t>
            </a:r>
            <a:endParaRPr/>
          </a:p>
        </p:txBody>
      </p:sp>
      <p:sp>
        <p:nvSpPr>
          <p:cNvPr id="226" name="Google Shape;226;p26"/>
          <p:cNvSpPr txBox="1"/>
          <p:nvPr>
            <p:ph idx="2" type="body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Магистратура “Искусственный </a:t>
            </a:r>
            <a:r>
              <a:rPr lang="ru"/>
              <a:t>интеллект”</a:t>
            </a:r>
            <a:endParaRPr/>
          </a:p>
        </p:txBody>
      </p:sp>
      <p:sp>
        <p:nvSpPr>
          <p:cNvPr id="227" name="Google Shape;227;p26"/>
          <p:cNvSpPr txBox="1"/>
          <p:nvPr>
            <p:ph idx="3" type="body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Москва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2026</a:t>
            </a:r>
            <a:endParaRPr/>
          </a:p>
        </p:txBody>
      </p:sp>
      <p:sp>
        <p:nvSpPr>
          <p:cNvPr id="228" name="Google Shape;228;p26"/>
          <p:cNvSpPr txBox="1"/>
          <p:nvPr>
            <p:ph idx="4" type="body"/>
          </p:nvPr>
        </p:nvSpPr>
        <p:spPr>
          <a:xfrm>
            <a:off x="5444850" y="3231750"/>
            <a:ext cx="3039900" cy="1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00000"/>
                </a:solidFill>
              </a:rPr>
              <a:t>Выполнила команда № 20: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Маслов Дмитрий Владимирович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Седов Михаил Алексеевич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Швец Антон Юрьевич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Куратор: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Мария Кофанова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34" name="Google Shape;234;p27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35" name="Google Shape;235;p27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Цель и задачи проекта</a:t>
            </a:r>
            <a:endParaRPr b="1"/>
          </a:p>
        </p:txBody>
      </p:sp>
      <p:sp>
        <p:nvSpPr>
          <p:cNvPr id="236" name="Google Shape;236;p27"/>
          <p:cNvSpPr txBox="1"/>
          <p:nvPr>
            <p:ph idx="3" type="body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Цель</a:t>
            </a:r>
            <a:r>
              <a:rPr lang="ru" sz="1800">
                <a:solidFill>
                  <a:schemeClr val="dk1"/>
                </a:solidFill>
              </a:rPr>
              <a:t>: провести полный цикл разработки ML-решения для поиска аномалий в транзакционных данных: от EDA и обучения моделей до развертывания ML-сервиса инференса на FastAPI.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Задачи</a:t>
            </a:r>
            <a:r>
              <a:rPr lang="ru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Провести EDA и ключевые закономерности;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Выполнить предобработку данных;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Обучить и сравнить несколько моделей для задачи обнаружения;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Оценить качество моделей и выбрать наилучшее решение;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Реализовать ML-сервис для прогона данных обученной модели ML.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237" name="Google Shape;237;p27"/>
          <p:cNvSpPr txBox="1"/>
          <p:nvPr>
            <p:ph idx="4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43" name="Google Shape;243;p28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44" name="Google Shape;244;p28"/>
          <p:cNvSpPr txBox="1"/>
          <p:nvPr>
            <p:ph type="title"/>
          </p:nvPr>
        </p:nvSpPr>
        <p:spPr>
          <a:xfrm>
            <a:off x="425249" y="935800"/>
            <a:ext cx="3510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Описание данных</a:t>
            </a:r>
            <a:endParaRPr b="1"/>
          </a:p>
        </p:txBody>
      </p:sp>
      <p:sp>
        <p:nvSpPr>
          <p:cNvPr id="245" name="Google Shape;245;p28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" y="1388500"/>
            <a:ext cx="4326900" cy="35749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5010575" y="1109850"/>
            <a:ext cx="1708800" cy="408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1 048 574 операций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6919600" y="1109900"/>
            <a:ext cx="1669200" cy="40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1 048 316 пользователей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5010575" y="1578638"/>
            <a:ext cx="3567900" cy="45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Транзакции проводились с 2012 по 2014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5010575" y="2091800"/>
            <a:ext cx="3567900" cy="45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Пропуски отсутствуют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4350" y="2651275"/>
            <a:ext cx="2760350" cy="19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/>
          <p:nvPr/>
        </p:nvSpPr>
        <p:spPr>
          <a:xfrm>
            <a:off x="5573225" y="4661125"/>
            <a:ext cx="2442600" cy="19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alibri"/>
                <a:ea typeface="Calibri"/>
                <a:cs typeface="Calibri"/>
                <a:sym typeface="Calibri"/>
              </a:rPr>
              <a:t>Пропорция классов</a:t>
            </a:r>
            <a:endParaRPr b="1"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58" name="Google Shape;258;p29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59" name="Google Shape;259;p29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EDA</a:t>
            </a:r>
            <a:endParaRPr b="1"/>
          </a:p>
        </p:txBody>
      </p:sp>
      <p:sp>
        <p:nvSpPr>
          <p:cNvPr id="260" name="Google Shape;260;p29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261" name="Google Shape;2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00" y="1738225"/>
            <a:ext cx="4779149" cy="268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329" y="913325"/>
            <a:ext cx="3301958" cy="20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641" y="2988125"/>
            <a:ext cx="3281320" cy="19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69" name="Google Shape;269;p30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70" name="Google Shape;270;p30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EDA</a:t>
            </a:r>
            <a:endParaRPr b="1"/>
          </a:p>
        </p:txBody>
      </p:sp>
      <p:sp>
        <p:nvSpPr>
          <p:cNvPr id="271" name="Google Shape;271;p30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272" name="Google Shape;2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025" y="1569350"/>
            <a:ext cx="7095950" cy="31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78" name="Google Shape;278;p31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79" name="Google Shape;279;p31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EDA</a:t>
            </a:r>
            <a:endParaRPr b="1"/>
          </a:p>
        </p:txBody>
      </p:sp>
      <p:sp>
        <p:nvSpPr>
          <p:cNvPr id="280" name="Google Shape;280;p31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281" name="Google Shape;2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850" y="1804425"/>
            <a:ext cx="4997699" cy="291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25" y="1712374"/>
            <a:ext cx="3607524" cy="155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263" y="3353025"/>
            <a:ext cx="3497647" cy="15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289" name="Google Shape;289;p32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290" name="Google Shape;290;p32"/>
          <p:cNvSpPr txBox="1"/>
          <p:nvPr>
            <p:ph type="title"/>
          </p:nvPr>
        </p:nvSpPr>
        <p:spPr>
          <a:xfrm>
            <a:off x="425249" y="935800"/>
            <a:ext cx="3510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EDA выводы</a:t>
            </a:r>
            <a:endParaRPr b="1"/>
          </a:p>
        </p:txBody>
      </p:sp>
      <p:sp>
        <p:nvSpPr>
          <p:cNvPr id="291" name="Google Shape;291;p32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sp>
        <p:nvSpPr>
          <p:cNvPr id="292" name="Google Shape;292;p32"/>
          <p:cNvSpPr/>
          <p:nvPr/>
        </p:nvSpPr>
        <p:spPr>
          <a:xfrm>
            <a:off x="425250" y="1451650"/>
            <a:ext cx="3351600" cy="640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структурный разрыв: падение числа операций в конце июня-июля 2014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/>
          <p:nvPr/>
        </p:nvSpPr>
        <p:spPr>
          <a:xfrm>
            <a:off x="425250" y="2201925"/>
            <a:ext cx="3351600" cy="640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числовые признаки ассиметричны, большое число нулей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425250" y="2952200"/>
            <a:ext cx="3351600" cy="858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CASH_IN - наикрупнейшие операции по медианным суммам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TRANSFER, CASH_OUT - наибольшее число выбросов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425250" y="3920875"/>
            <a:ext cx="3351600" cy="312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профиль операций по городам слабый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3993550" y="2735425"/>
            <a:ext cx="1426500" cy="44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5627350" y="1610025"/>
            <a:ext cx="3168000" cy="64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значительное влияние типа операции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5627350" y="2410025"/>
            <a:ext cx="3168000" cy="640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исключение признака даты, номера клиента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/>
          <p:nvPr/>
        </p:nvSpPr>
        <p:spPr>
          <a:xfrm>
            <a:off x="5627350" y="3210025"/>
            <a:ext cx="3168000" cy="93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Calibri"/>
                <a:ea typeface="Calibri"/>
                <a:cs typeface="Calibri"/>
                <a:sym typeface="Calibri"/>
              </a:rPr>
              <a:t>предобработка признаков: лог-преобразования, преобразование категориальных признаков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/>
          <p:nvPr/>
        </p:nvSpPr>
        <p:spPr>
          <a:xfrm>
            <a:off x="4572000" y="2014950"/>
            <a:ext cx="2726100" cy="16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1420775" y="2026850"/>
            <a:ext cx="2726100" cy="16674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3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Факультет компьютерных наук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3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3"/>
          <p:cNvSpPr txBox="1"/>
          <p:nvPr>
            <p:ph type="title"/>
          </p:nvPr>
        </p:nvSpPr>
        <p:spPr>
          <a:xfrm>
            <a:off x="311698" y="1074793"/>
            <a:ext cx="8293500" cy="5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400">
                <a:solidFill>
                  <a:srgbClr val="000000"/>
                </a:solidFill>
              </a:rPr>
              <a:t>Выбор метрик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400"/>
          </a:p>
        </p:txBody>
      </p:sp>
      <p:sp>
        <p:nvSpPr>
          <p:cNvPr id="309" name="Google Shape;309;p33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2026</a:t>
            </a:r>
            <a:endParaRPr/>
          </a:p>
        </p:txBody>
      </p:sp>
      <p:sp>
        <p:nvSpPr>
          <p:cNvPr id="310" name="Google Shape;310;p33"/>
          <p:cNvSpPr txBox="1"/>
          <p:nvPr>
            <p:ph idx="1" type="body"/>
          </p:nvPr>
        </p:nvSpPr>
        <p:spPr>
          <a:xfrm>
            <a:off x="1681975" y="1526300"/>
            <a:ext cx="22827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accuracy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О</a:t>
            </a:r>
            <a:r>
              <a:rPr lang="ru" sz="2400">
                <a:solidFill>
                  <a:schemeClr val="dk1"/>
                </a:solidFill>
              </a:rPr>
              <a:t>сновные: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" sz="2400"/>
              <a:t>PR-AUC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" sz="2400"/>
              <a:t>F2</a:t>
            </a:r>
            <a:r>
              <a:rPr lang="ru" sz="2400">
                <a:solidFill>
                  <a:schemeClr val="dk1"/>
                </a:solidFill>
              </a:rPr>
              <a:t>-</a:t>
            </a:r>
            <a:r>
              <a:rPr lang="ru" sz="2400"/>
              <a:t>S</a:t>
            </a:r>
            <a:r>
              <a:rPr lang="ru" sz="2400">
                <a:solidFill>
                  <a:schemeClr val="dk1"/>
                </a:solidFill>
              </a:rPr>
              <a:t>core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cxnSp>
        <p:nvCxnSpPr>
          <p:cNvPr id="311" name="Google Shape;311;p33"/>
          <p:cNvCxnSpPr/>
          <p:nvPr/>
        </p:nvCxnSpPr>
        <p:spPr>
          <a:xfrm flipH="1" rot="10800000">
            <a:off x="1681975" y="1607750"/>
            <a:ext cx="1283100" cy="25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3"/>
          <p:cNvCxnSpPr/>
          <p:nvPr/>
        </p:nvCxnSpPr>
        <p:spPr>
          <a:xfrm>
            <a:off x="1735225" y="1618850"/>
            <a:ext cx="122790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3"/>
          <p:cNvSpPr txBox="1"/>
          <p:nvPr>
            <p:ph idx="1" type="body"/>
          </p:nvPr>
        </p:nvSpPr>
        <p:spPr>
          <a:xfrm>
            <a:off x="4766700" y="1409925"/>
            <a:ext cx="2531400" cy="18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В</a:t>
            </a:r>
            <a:r>
              <a:rPr lang="ru" sz="2400">
                <a:solidFill>
                  <a:schemeClr val="dk1"/>
                </a:solidFill>
              </a:rPr>
              <a:t>торостепенные: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" sz="2400"/>
              <a:t>P</a:t>
            </a:r>
            <a:r>
              <a:rPr lang="ru" sz="2400">
                <a:solidFill>
                  <a:schemeClr val="dk1"/>
                </a:solidFill>
              </a:rPr>
              <a:t>recision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" sz="2400"/>
              <a:t>R</a:t>
            </a:r>
            <a:r>
              <a:rPr lang="ru" sz="2400">
                <a:solidFill>
                  <a:schemeClr val="dk1"/>
                </a:solidFill>
              </a:rPr>
              <a:t>ecall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" sz="2400"/>
              <a:t>ROC-AUC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Факультет компьютерных наук</a:t>
            </a:r>
            <a:endParaRPr sz="1200"/>
          </a:p>
        </p:txBody>
      </p:sp>
      <p:sp>
        <p:nvSpPr>
          <p:cNvPr id="319" name="Google Shape;319;p34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439425" y="1085847"/>
            <a:ext cx="80361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/>
              <a:t>Какие ML- модели обучали </a:t>
            </a:r>
            <a:endParaRPr b="1"/>
          </a:p>
        </p:txBody>
      </p:sp>
      <p:sp>
        <p:nvSpPr>
          <p:cNvPr id="321" name="Google Shape;321;p34"/>
          <p:cNvSpPr txBox="1"/>
          <p:nvPr>
            <p:ph idx="6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322" name="Google Shape;322;p34" title="models_summary_metrics.png"/>
          <p:cNvPicPr preferRelativeResize="0"/>
          <p:nvPr/>
        </p:nvPicPr>
        <p:blipFill rotWithShape="1">
          <a:blip r:embed="rId3">
            <a:alphaModFix/>
          </a:blip>
          <a:srcRect b="11443" l="3279" r="3298" t="19956"/>
          <a:stretch/>
        </p:blipFill>
        <p:spPr>
          <a:xfrm>
            <a:off x="362175" y="1444050"/>
            <a:ext cx="8537723" cy="25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28" name="Google Shape;328;p35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29" name="Google Shape;329;p35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330" name="Google Shape;330;p35" title="pr_curve_catboost_vs_logreg_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263" y="764925"/>
            <a:ext cx="6571474" cy="416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311700" y="1076399"/>
            <a:ext cx="8293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67">
                <a:solidFill>
                  <a:srgbClr val="000000"/>
                </a:solidFill>
              </a:rPr>
              <a:t>Почему качество упирается в данные, а не в ML-модель</a:t>
            </a:r>
            <a:endParaRPr b="1" sz="246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6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sp>
        <p:nvSpPr>
          <p:cNvPr id="339" name="Google Shape;339;p36"/>
          <p:cNvSpPr txBox="1"/>
          <p:nvPr/>
        </p:nvSpPr>
        <p:spPr>
          <a:xfrm>
            <a:off x="311700" y="1550100"/>
            <a:ext cx="8507400" cy="29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- </a:t>
            </a:r>
            <a:r>
              <a:rPr lang="ru" sz="1700">
                <a:solidFill>
                  <a:schemeClr val="dk1"/>
                </a:solidFill>
              </a:rPr>
              <a:t>Сильные ML-модели сходятся к близкому уровню качества: PR-AUC ≈ 0.59, F2 ≈ 0.73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- В датасете нет полноценной истории клиента, почти каждый nameOrig встречается один раз. Модели не могут улавливать изменения в поведении конкретного пользователя, что являлось бы сильным сигналом к фроду.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- Нет информации о второй стороне операции, поэтому нельзя построить сетевые признаки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</a:rPr>
              <a:t>- Классы пересекаются в признаковом пространстве. Часть legit-операций похожа на fraud и попадает в False Positive, а часть fraud выглядит как legit и попадает в False Negative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45" name="Google Shape;345;p37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311700" y="1076399"/>
            <a:ext cx="8293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67">
                <a:solidFill>
                  <a:srgbClr val="000000"/>
                </a:solidFill>
              </a:rPr>
              <a:t>DL</a:t>
            </a:r>
            <a:endParaRPr b="1" sz="246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7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sp>
        <p:nvSpPr>
          <p:cNvPr id="348" name="Google Shape;348;p37"/>
          <p:cNvSpPr txBox="1"/>
          <p:nvPr>
            <p:ph idx="4" type="body"/>
          </p:nvPr>
        </p:nvSpPr>
        <p:spPr>
          <a:xfrm>
            <a:off x="311700" y="1550100"/>
            <a:ext cx="29508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4-слойная полносвязная NN (512-256-128-64)</a:t>
            </a:r>
            <a:r>
              <a:rPr b="1" lang="ru" sz="1390">
                <a:solidFill>
                  <a:schemeClr val="dk1"/>
                </a:solidFill>
              </a:rPr>
              <a:t>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PR-AUC: 0.55,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F2-Score: 0.68,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Precision: 0.35,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Recal</a:t>
            </a:r>
            <a:r>
              <a:rPr lang="ru" sz="1390">
                <a:solidFill>
                  <a:schemeClr val="dk1"/>
                </a:solidFill>
              </a:rPr>
              <a:t>l</a:t>
            </a:r>
            <a:r>
              <a:rPr lang="ru" sz="1390">
                <a:solidFill>
                  <a:schemeClr val="dk1"/>
                </a:solidFill>
              </a:rPr>
              <a:t>: 0.91,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F1-Score: 0.50,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Accuracy: 0.70,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Время обучения: ~7 мин</a:t>
            </a:r>
            <a:endParaRPr sz="1390">
              <a:solidFill>
                <a:schemeClr val="dk1"/>
              </a:solidFill>
            </a:endParaRPr>
          </a:p>
        </p:txBody>
      </p:sp>
      <p:sp>
        <p:nvSpPr>
          <p:cNvPr id="349" name="Google Shape;349;p37"/>
          <p:cNvSpPr txBox="1"/>
          <p:nvPr>
            <p:ph idx="4" type="body"/>
          </p:nvPr>
        </p:nvSpPr>
        <p:spPr>
          <a:xfrm>
            <a:off x="311700" y="3230275"/>
            <a:ext cx="29508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4-слойная полносвязная NN с регуляризацией (512-256-128-64):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PR-AUC: 0.33,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F2-Score: 0.69,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Precision: 0.35,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Recall: 0.91,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F1-Score: 0.50,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Accuracy: 0.70,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Время обучения: ~7 мин</a:t>
            </a:r>
            <a:endParaRPr sz="1390">
              <a:solidFill>
                <a:schemeClr val="dk1"/>
              </a:solidFill>
            </a:endParaRPr>
          </a:p>
        </p:txBody>
      </p:sp>
      <p:sp>
        <p:nvSpPr>
          <p:cNvPr id="350" name="Google Shape;350;p37"/>
          <p:cNvSpPr txBox="1"/>
          <p:nvPr>
            <p:ph idx="4" type="body"/>
          </p:nvPr>
        </p:nvSpPr>
        <p:spPr>
          <a:xfrm>
            <a:off x="4572000" y="1550100"/>
            <a:ext cx="29508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3</a:t>
            </a:r>
            <a:r>
              <a:rPr b="1" lang="ru" sz="1390">
                <a:solidFill>
                  <a:schemeClr val="dk1"/>
                </a:solidFill>
              </a:rPr>
              <a:t>-слойная полносвязная NN (192-320-256) Optuna: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PR-AUC: 0.47,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F2-Score: 0.67,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Precision: 0.36,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Recall: 0.86,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F1-Score: 0.51,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Accuracy: 0.72,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Время обучения: ~1 ч 7 мин</a:t>
            </a:r>
            <a:endParaRPr sz="1390">
              <a:solidFill>
                <a:schemeClr val="dk1"/>
              </a:solidFill>
            </a:endParaRPr>
          </a:p>
        </p:txBody>
      </p:sp>
      <p:sp>
        <p:nvSpPr>
          <p:cNvPr id="351" name="Google Shape;351;p37"/>
          <p:cNvSpPr txBox="1"/>
          <p:nvPr>
            <p:ph idx="4" type="body"/>
          </p:nvPr>
        </p:nvSpPr>
        <p:spPr>
          <a:xfrm>
            <a:off x="4572000" y="3230275"/>
            <a:ext cx="29508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Attention-based, 4 головы</a:t>
            </a:r>
            <a:r>
              <a:rPr b="1" lang="ru" sz="1390">
                <a:solidFill>
                  <a:schemeClr val="dk1"/>
                </a:solidFill>
              </a:rPr>
              <a:t>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PR-AUC: 0.50,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F2-Score: 0.69,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Precision: 0.35,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Recall: 0.89,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F1-Score: 0.51,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Accuracy: 0.71,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Время обучения: ~15 мин</a:t>
            </a:r>
            <a:endParaRPr sz="13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57" name="Google Shape;357;p38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58" name="Google Shape;358;p38"/>
          <p:cNvSpPr txBox="1"/>
          <p:nvPr>
            <p:ph type="title"/>
          </p:nvPr>
        </p:nvSpPr>
        <p:spPr>
          <a:xfrm>
            <a:off x="311700" y="1076399"/>
            <a:ext cx="82935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67">
                <a:solidFill>
                  <a:srgbClr val="000000"/>
                </a:solidFill>
              </a:rPr>
              <a:t>TabNet</a:t>
            </a:r>
            <a:endParaRPr b="1" sz="246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8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sp>
        <p:nvSpPr>
          <p:cNvPr id="360" name="Google Shape;360;p38"/>
          <p:cNvSpPr txBox="1"/>
          <p:nvPr>
            <p:ph idx="4" type="body"/>
          </p:nvPr>
        </p:nvSpPr>
        <p:spPr>
          <a:xfrm>
            <a:off x="6430200" y="3464050"/>
            <a:ext cx="21750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Метрики</a:t>
            </a:r>
            <a:r>
              <a:rPr b="1" lang="ru" sz="1390">
                <a:solidFill>
                  <a:schemeClr val="dk1"/>
                </a:solidFill>
              </a:rPr>
              <a:t>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PR-AUC: 0.47,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F2-Score: 0.37,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Precision: 0.68,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Recall: 0.33,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F1-Score: 0.45,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Accuracy: 0.86,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Время обучения: ~15 мин</a:t>
            </a:r>
            <a:endParaRPr sz="1390">
              <a:solidFill>
                <a:schemeClr val="dk1"/>
              </a:solidFill>
            </a:endParaRPr>
          </a:p>
        </p:txBody>
      </p:sp>
      <p:pic>
        <p:nvPicPr>
          <p:cNvPr id="361" name="Google Shape;3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0100"/>
            <a:ext cx="5691301" cy="336984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 txBox="1"/>
          <p:nvPr>
            <p:ph idx="4" type="body"/>
          </p:nvPr>
        </p:nvSpPr>
        <p:spPr>
          <a:xfrm>
            <a:off x="6430200" y="1550100"/>
            <a:ext cx="21750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ru" sz="1390">
                <a:solidFill>
                  <a:schemeClr val="dk1"/>
                </a:solidFill>
              </a:rPr>
              <a:t>Гиперпараметры</a:t>
            </a:r>
            <a:r>
              <a:rPr b="1" lang="ru" sz="1390">
                <a:solidFill>
                  <a:schemeClr val="dk1"/>
                </a:solidFill>
              </a:rPr>
              <a:t>:</a:t>
            </a:r>
            <a:endParaRPr b="1"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-шагов: 3</a:t>
            </a:r>
            <a:r>
              <a:rPr lang="ru" sz="1390">
                <a:solidFill>
                  <a:schemeClr val="dk1"/>
                </a:solidFill>
              </a:rPr>
              <a:t>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-тип маски: sparsemax,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-ширина выходов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 Feature Transformer: 8,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-Shared blocks: 2,</a:t>
            </a:r>
            <a:endParaRPr sz="13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1390">
                <a:solidFill>
                  <a:schemeClr val="dk1"/>
                </a:solidFill>
              </a:rPr>
              <a:t>-Step-dependent blocks: 2</a:t>
            </a:r>
            <a:endParaRPr sz="13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9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9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Логирование экспериментов</a:t>
            </a:r>
            <a:endParaRPr/>
          </a:p>
        </p:txBody>
      </p:sp>
      <p:sp>
        <p:nvSpPr>
          <p:cNvPr id="370" name="Google Shape;370;p39"/>
          <p:cNvSpPr txBox="1"/>
          <p:nvPr>
            <p:ph idx="3" type="body"/>
          </p:nvPr>
        </p:nvSpPr>
        <p:spPr>
          <a:xfrm>
            <a:off x="439423" y="1784747"/>
            <a:ext cx="8293500" cy="2808900"/>
          </a:xfrm>
          <a:prstGeom prst="rect">
            <a:avLst/>
          </a:prstGeom>
        </p:spPr>
        <p:txBody>
          <a:bodyPr anchorCtr="0" anchor="t" bIns="34275" lIns="0" spcFirstLastPara="1" rIns="0" wrap="square" tIns="0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9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07" y="1508455"/>
            <a:ext cx="8623724" cy="349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73" y="3238201"/>
            <a:ext cx="1552500" cy="154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79" name="Google Shape;379;p40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80" name="Google Shape;380;p40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Сервисная часть</a:t>
            </a:r>
            <a:endParaRPr b="1"/>
          </a:p>
        </p:txBody>
      </p:sp>
      <p:sp>
        <p:nvSpPr>
          <p:cNvPr id="381" name="Google Shape;381;p40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/>
              <a:t>2026</a:t>
            </a:r>
            <a:endParaRPr/>
          </a:p>
        </p:txBody>
      </p:sp>
      <p:pic>
        <p:nvPicPr>
          <p:cNvPr id="382" name="Google Shape;382;p40" title="Запись 2026-06-19 10031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6900" y="1618167"/>
            <a:ext cx="4226610" cy="316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8299" y="2939301"/>
            <a:ext cx="1426500" cy="146291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 txBox="1"/>
          <p:nvPr/>
        </p:nvSpPr>
        <p:spPr>
          <a:xfrm>
            <a:off x="7163148" y="4277980"/>
            <a:ext cx="14265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Swagger</a:t>
            </a: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390" name="Google Shape;390;p41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391" name="Google Shape;391;p41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Распределение ролей</a:t>
            </a:r>
            <a:endParaRPr b="1"/>
          </a:p>
        </p:txBody>
      </p:sp>
      <p:sp>
        <p:nvSpPr>
          <p:cNvPr id="392" name="Google Shape;392;p41"/>
          <p:cNvSpPr txBox="1"/>
          <p:nvPr>
            <p:ph idx="3" type="body"/>
          </p:nvPr>
        </p:nvSpPr>
        <p:spPr>
          <a:xfrm>
            <a:off x="439423" y="1784747"/>
            <a:ext cx="8293500" cy="28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Разведочный анализ данных →</a:t>
            </a:r>
            <a:r>
              <a:rPr lang="ru" sz="1800">
                <a:solidFill>
                  <a:schemeClr val="dk1"/>
                </a:solidFill>
              </a:rPr>
              <a:t> Екатерина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Предобработка данных и обучение моделей → Михаил и Дмитрий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Разработка ML-сервиса и логирование экспериментов → Антон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3" name="Google Shape;393;p41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2026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770975" y="1421900"/>
            <a:ext cx="7657500" cy="18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ru" sz="3780">
                <a:solidFill>
                  <a:srgbClr val="000000"/>
                </a:solidFill>
              </a:rPr>
              <a:t>Детектирование аномалий в данных</a:t>
            </a:r>
            <a:endParaRPr b="1"/>
          </a:p>
        </p:txBody>
      </p:sp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1556210" y="890881"/>
            <a:ext cx="28866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ru"/>
              <a:t>Факультет компьютерных наук</a:t>
            </a:r>
            <a:endParaRPr/>
          </a:p>
        </p:txBody>
      </p:sp>
      <p:sp>
        <p:nvSpPr>
          <p:cNvPr id="400" name="Google Shape;400;p42"/>
          <p:cNvSpPr txBox="1"/>
          <p:nvPr>
            <p:ph idx="2" type="body"/>
          </p:nvPr>
        </p:nvSpPr>
        <p:spPr>
          <a:xfrm>
            <a:off x="4694565" y="880372"/>
            <a:ext cx="1708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Магистратура “Искусственный интеллект”</a:t>
            </a:r>
            <a:endParaRPr/>
          </a:p>
        </p:txBody>
      </p:sp>
      <p:sp>
        <p:nvSpPr>
          <p:cNvPr id="401" name="Google Shape;401;p42"/>
          <p:cNvSpPr txBox="1"/>
          <p:nvPr>
            <p:ph idx="3" type="body"/>
          </p:nvPr>
        </p:nvSpPr>
        <p:spPr>
          <a:xfrm>
            <a:off x="6590040" y="880372"/>
            <a:ext cx="166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Москва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2026</a:t>
            </a:r>
            <a:endParaRPr/>
          </a:p>
        </p:txBody>
      </p:sp>
      <p:sp>
        <p:nvSpPr>
          <p:cNvPr id="402" name="Google Shape;402;p42"/>
          <p:cNvSpPr txBox="1"/>
          <p:nvPr>
            <p:ph idx="4" type="body"/>
          </p:nvPr>
        </p:nvSpPr>
        <p:spPr>
          <a:xfrm>
            <a:off x="5444850" y="3231750"/>
            <a:ext cx="3039900" cy="1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00000"/>
                </a:solidFill>
              </a:rPr>
              <a:t>Выполнила команда № 20: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Маслов Дмитрий Владимирович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Смирнова Екатерина Сергеевна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Седов Михаил Алексеевич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Швец Антон Юрьевич</a:t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Куратор: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Мария Кофанова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/>
              <a:t>Факультет компьютерных наук</a:t>
            </a:r>
            <a:endParaRPr/>
          </a:p>
        </p:txBody>
      </p:sp>
      <p:sp>
        <p:nvSpPr>
          <p:cNvPr id="408" name="Google Shape;408;p43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Магистратура “Искусственный интеллект</a:t>
            </a:r>
            <a:endParaRPr/>
          </a:p>
        </p:txBody>
      </p:sp>
      <p:sp>
        <p:nvSpPr>
          <p:cNvPr id="409" name="Google Shape;409;p43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rgbClr val="000000"/>
                </a:solidFill>
              </a:rPr>
              <a:t>План на следующий семестр</a:t>
            </a:r>
            <a:endParaRPr b="1"/>
          </a:p>
        </p:txBody>
      </p:sp>
      <p:sp>
        <p:nvSpPr>
          <p:cNvPr id="410" name="Google Shape;410;p43"/>
          <p:cNvSpPr txBox="1"/>
          <p:nvPr>
            <p:ph idx="3" type="body"/>
          </p:nvPr>
        </p:nvSpPr>
        <p:spPr>
          <a:xfrm>
            <a:off x="439423" y="1784747"/>
            <a:ext cx="8293500" cy="28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Улучшение качества линейных моделей</a:t>
            </a:r>
            <a:r>
              <a:rPr lang="ru" sz="1600">
                <a:solidFill>
                  <a:schemeClr val="dk1"/>
                </a:solidFill>
              </a:rPr>
              <a:t>. Дополнительная оптимизация самих моделей и признакового пространства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Переход к DL-моделям</a:t>
            </a:r>
            <a:r>
              <a:rPr lang="ru" sz="1600">
                <a:solidFill>
                  <a:schemeClr val="dk1"/>
                </a:solidFill>
              </a:rPr>
              <a:t>. Исследование и внедрение DL-подходов для повышения качества предсказания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Интеграция DL-решения</a:t>
            </a:r>
            <a:r>
              <a:rPr lang="ru" sz="1600">
                <a:solidFill>
                  <a:schemeClr val="dk1"/>
                </a:solidFill>
              </a:rPr>
              <a:t> в ML-сервис на FastAPI и </a:t>
            </a:r>
            <a:r>
              <a:rPr b="1" lang="ru" sz="1600">
                <a:solidFill>
                  <a:schemeClr val="dk1"/>
                </a:solidFill>
              </a:rPr>
              <a:t>интеграция БД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Создание сервиса</a:t>
            </a:r>
            <a:r>
              <a:rPr lang="ru" sz="1600">
                <a:solidFill>
                  <a:schemeClr val="dk1"/>
                </a:solidFill>
              </a:rPr>
              <a:t> с пользовательским интерфейсом на базе Streamlit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11" name="Google Shape;411;p43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Москва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None/>
            </a:pPr>
            <a:r>
              <a:rPr lang="ru" sz="900"/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